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7" r:id="rId13"/>
    <p:sldId id="268" r:id="rId14"/>
    <p:sldId id="273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37"/>
    <p:restoredTop sz="94640"/>
  </p:normalViewPr>
  <p:slideViewPr>
    <p:cSldViewPr snapToGrid="0">
      <p:cViewPr>
        <p:scale>
          <a:sx n="95" d="100"/>
          <a:sy n="95" d="100"/>
        </p:scale>
        <p:origin x="149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FA9F8-11CD-0331-3D72-BCAE773CCA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Miles Porter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15922-452A-EF3F-1F97-41AF1B7B25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CS1050 – Fall 2025 m/w</a:t>
            </a:r>
          </a:p>
        </p:txBody>
      </p:sp>
    </p:spTree>
    <p:extLst>
      <p:ext uri="{BB962C8B-B14F-4D97-AF65-F5344CB8AC3E}">
        <p14:creationId xmlns:p14="http://schemas.microsoft.com/office/powerpoint/2010/main" val="3583798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91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8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F7192B-D8F2-4C37-4299-B91055465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2877336" cy="550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Grade calculator iteration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17A75-25EE-9709-B00B-B6E46F5AE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40743" y="638650"/>
            <a:ext cx="7034485" cy="378277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Utilized Scanner to get grades for each student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Prints each students’ grades during the loop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Data is overridden during each iteration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Final grades stored in double array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Finds highest, lowest, and average grade for class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CD9788-2023-4AB7-D378-B9E7BEEA7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197" y="5075361"/>
            <a:ext cx="6786975" cy="125558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FA59A9-1D50-A2D8-B7FA-C7242180B2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125" y="2854856"/>
            <a:ext cx="6338047" cy="201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32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BD682E6D-6B2A-4E23-9DB2-A87CFD5EF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2818B62-F7FE-4423-B47F-BEADB9585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D8F34A-2048-4710-885B-6020E3A52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9" name="Rectangle 5">
                <a:extLst>
                  <a:ext uri="{FF2B5EF4-FFF2-40B4-BE49-F238E27FC236}">
                    <a16:creationId xmlns:a16="http://schemas.microsoft.com/office/drawing/2014/main" id="{2BD59528-B946-437E-964B-E07B68C395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6">
                <a:extLst>
                  <a:ext uri="{FF2B5EF4-FFF2-40B4-BE49-F238E27FC236}">
                    <a16:creationId xmlns:a16="http://schemas.microsoft.com/office/drawing/2014/main" id="{E501D201-A6EF-40DD-A904-37280298A2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7">
                <a:extLst>
                  <a:ext uri="{FF2B5EF4-FFF2-40B4-BE49-F238E27FC236}">
                    <a16:creationId xmlns:a16="http://schemas.microsoft.com/office/drawing/2014/main" id="{700C9926-C507-4642-A28B-4381982F27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8">
                <a:extLst>
                  <a:ext uri="{FF2B5EF4-FFF2-40B4-BE49-F238E27FC236}">
                    <a16:creationId xmlns:a16="http://schemas.microsoft.com/office/drawing/2014/main" id="{F9C0AC4B-084B-44C7-9BB3-84B1AA7A6E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9">
                <a:extLst>
                  <a:ext uri="{FF2B5EF4-FFF2-40B4-BE49-F238E27FC236}">
                    <a16:creationId xmlns:a16="http://schemas.microsoft.com/office/drawing/2014/main" id="{765B71B8-526D-4CE9-9B29-380B4A63D6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0">
                <a:extLst>
                  <a:ext uri="{FF2B5EF4-FFF2-40B4-BE49-F238E27FC236}">
                    <a16:creationId xmlns:a16="http://schemas.microsoft.com/office/drawing/2014/main" id="{A5E131F6-E6F7-4C93-B2AC-6BEE7210A3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1">
                <a:extLst>
                  <a:ext uri="{FF2B5EF4-FFF2-40B4-BE49-F238E27FC236}">
                    <a16:creationId xmlns:a16="http://schemas.microsoft.com/office/drawing/2014/main" id="{36F8025F-A8BE-4215-AD98-F0E163D56E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2">
                <a:extLst>
                  <a:ext uri="{FF2B5EF4-FFF2-40B4-BE49-F238E27FC236}">
                    <a16:creationId xmlns:a16="http://schemas.microsoft.com/office/drawing/2014/main" id="{3FEE64BF-FE95-4329-8B60-ADB566F8C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13">
                <a:extLst>
                  <a:ext uri="{FF2B5EF4-FFF2-40B4-BE49-F238E27FC236}">
                    <a16:creationId xmlns:a16="http://schemas.microsoft.com/office/drawing/2014/main" id="{742D24D5-73EA-4F42-A61D-FE001B1A9B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4">
                <a:extLst>
                  <a:ext uri="{FF2B5EF4-FFF2-40B4-BE49-F238E27FC236}">
                    <a16:creationId xmlns:a16="http://schemas.microsoft.com/office/drawing/2014/main" id="{DC35DA0C-8EC9-48BE-A38B-B626CD2DB2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5">
                <a:extLst>
                  <a:ext uri="{FF2B5EF4-FFF2-40B4-BE49-F238E27FC236}">
                    <a16:creationId xmlns:a16="http://schemas.microsoft.com/office/drawing/2014/main" id="{FFD82B19-6C16-4221-83B3-40342C74D9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Line 16">
                <a:extLst>
                  <a:ext uri="{FF2B5EF4-FFF2-40B4-BE49-F238E27FC236}">
                    <a16:creationId xmlns:a16="http://schemas.microsoft.com/office/drawing/2014/main" id="{91BC2DD8-6333-4604-A9AD-AF058EBC63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17">
                <a:extLst>
                  <a:ext uri="{FF2B5EF4-FFF2-40B4-BE49-F238E27FC236}">
                    <a16:creationId xmlns:a16="http://schemas.microsoft.com/office/drawing/2014/main" id="{867B3042-26EF-40D4-BB69-1CE99C5691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18">
                <a:extLst>
                  <a:ext uri="{FF2B5EF4-FFF2-40B4-BE49-F238E27FC236}">
                    <a16:creationId xmlns:a16="http://schemas.microsoft.com/office/drawing/2014/main" id="{C54FD8EB-2552-4089-A064-A979E29F46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19">
                <a:extLst>
                  <a:ext uri="{FF2B5EF4-FFF2-40B4-BE49-F238E27FC236}">
                    <a16:creationId xmlns:a16="http://schemas.microsoft.com/office/drawing/2014/main" id="{B906D2FC-267D-4E9E-AB79-A3F9F71DD5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0">
                <a:extLst>
                  <a:ext uri="{FF2B5EF4-FFF2-40B4-BE49-F238E27FC236}">
                    <a16:creationId xmlns:a16="http://schemas.microsoft.com/office/drawing/2014/main" id="{0414425E-C29B-4586-B8DF-6868ECC2E1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Rectangle 21">
                <a:extLst>
                  <a:ext uri="{FF2B5EF4-FFF2-40B4-BE49-F238E27FC236}">
                    <a16:creationId xmlns:a16="http://schemas.microsoft.com/office/drawing/2014/main" id="{CDBE75E0-D1A8-46A2-BEAA-A0291988AD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2">
                <a:extLst>
                  <a:ext uri="{FF2B5EF4-FFF2-40B4-BE49-F238E27FC236}">
                    <a16:creationId xmlns:a16="http://schemas.microsoft.com/office/drawing/2014/main" id="{43D2C92D-C4E9-4828-9F80-084603E71A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3">
                <a:extLst>
                  <a:ext uri="{FF2B5EF4-FFF2-40B4-BE49-F238E27FC236}">
                    <a16:creationId xmlns:a16="http://schemas.microsoft.com/office/drawing/2014/main" id="{746EAB08-DCFC-4A40-99E8-E8E3ED92DC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4">
                <a:extLst>
                  <a:ext uri="{FF2B5EF4-FFF2-40B4-BE49-F238E27FC236}">
                    <a16:creationId xmlns:a16="http://schemas.microsoft.com/office/drawing/2014/main" id="{C11CD8F1-C1C6-4E75-AC97-3EDEF9F33E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5">
                <a:extLst>
                  <a:ext uri="{FF2B5EF4-FFF2-40B4-BE49-F238E27FC236}">
                    <a16:creationId xmlns:a16="http://schemas.microsoft.com/office/drawing/2014/main" id="{2C0D5227-1C13-4FC8-B5E4-8F31CE08F1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6">
                <a:extLst>
                  <a:ext uri="{FF2B5EF4-FFF2-40B4-BE49-F238E27FC236}">
                    <a16:creationId xmlns:a16="http://schemas.microsoft.com/office/drawing/2014/main" id="{FCE27CDF-D928-46AC-AA53-9B9D3A2D5C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27">
                <a:extLst>
                  <a:ext uri="{FF2B5EF4-FFF2-40B4-BE49-F238E27FC236}">
                    <a16:creationId xmlns:a16="http://schemas.microsoft.com/office/drawing/2014/main" id="{CA2F8135-1DDF-47CC-9187-B929982C5D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28">
                <a:extLst>
                  <a:ext uri="{FF2B5EF4-FFF2-40B4-BE49-F238E27FC236}">
                    <a16:creationId xmlns:a16="http://schemas.microsoft.com/office/drawing/2014/main" id="{9F3AE01D-F193-4221-9EFA-B468752652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29">
                <a:extLst>
                  <a:ext uri="{FF2B5EF4-FFF2-40B4-BE49-F238E27FC236}">
                    <a16:creationId xmlns:a16="http://schemas.microsoft.com/office/drawing/2014/main" id="{7808422C-2145-4A5B-BD80-D18FF720CB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 30">
                <a:extLst>
                  <a:ext uri="{FF2B5EF4-FFF2-40B4-BE49-F238E27FC236}">
                    <a16:creationId xmlns:a16="http://schemas.microsoft.com/office/drawing/2014/main" id="{987F6D2E-7C49-41A2-9B29-C6E1A365F1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 31">
                <a:extLst>
                  <a:ext uri="{FF2B5EF4-FFF2-40B4-BE49-F238E27FC236}">
                    <a16:creationId xmlns:a16="http://schemas.microsoft.com/office/drawing/2014/main" id="{26F1D2B4-D9F2-4D30-AF5B-E0F0F8B4FE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8E1273E-EDE2-4A3A-B711-7C633D6F0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9" name="Freeform 32">
                <a:extLst>
                  <a:ext uri="{FF2B5EF4-FFF2-40B4-BE49-F238E27FC236}">
                    <a16:creationId xmlns:a16="http://schemas.microsoft.com/office/drawing/2014/main" id="{B63B0065-EB02-4B15-A2D1-8BF654B8A3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3">
                <a:extLst>
                  <a:ext uri="{FF2B5EF4-FFF2-40B4-BE49-F238E27FC236}">
                    <a16:creationId xmlns:a16="http://schemas.microsoft.com/office/drawing/2014/main" id="{E57426CB-66F7-4E49-A669-66628242C9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4">
                <a:extLst>
                  <a:ext uri="{FF2B5EF4-FFF2-40B4-BE49-F238E27FC236}">
                    <a16:creationId xmlns:a16="http://schemas.microsoft.com/office/drawing/2014/main" id="{13E7D034-6F93-4C3D-B0D4-5C7112065E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5">
                <a:extLst>
                  <a:ext uri="{FF2B5EF4-FFF2-40B4-BE49-F238E27FC236}">
                    <a16:creationId xmlns:a16="http://schemas.microsoft.com/office/drawing/2014/main" id="{544587B9-2C96-4F49-9D32-4B9561513F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6">
                <a:extLst>
                  <a:ext uri="{FF2B5EF4-FFF2-40B4-BE49-F238E27FC236}">
                    <a16:creationId xmlns:a16="http://schemas.microsoft.com/office/drawing/2014/main" id="{89C0C949-76C7-4C92-9296-CD1C2EF760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37">
                <a:extLst>
                  <a:ext uri="{FF2B5EF4-FFF2-40B4-BE49-F238E27FC236}">
                    <a16:creationId xmlns:a16="http://schemas.microsoft.com/office/drawing/2014/main" id="{88A24927-AAB9-451E-B0A0-A405AA62A8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38">
                <a:extLst>
                  <a:ext uri="{FF2B5EF4-FFF2-40B4-BE49-F238E27FC236}">
                    <a16:creationId xmlns:a16="http://schemas.microsoft.com/office/drawing/2014/main" id="{EB081E7B-E0CD-441B-B79D-E93D2AEBD6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39">
                <a:extLst>
                  <a:ext uri="{FF2B5EF4-FFF2-40B4-BE49-F238E27FC236}">
                    <a16:creationId xmlns:a16="http://schemas.microsoft.com/office/drawing/2014/main" id="{7D5730F8-66D4-4B1F-B8ED-FF90B6DF2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40">
                <a:extLst>
                  <a:ext uri="{FF2B5EF4-FFF2-40B4-BE49-F238E27FC236}">
                    <a16:creationId xmlns:a16="http://schemas.microsoft.com/office/drawing/2014/main" id="{889A6C05-5677-4961-9C01-68C74E42B7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Rectangle 41">
                <a:extLst>
                  <a:ext uri="{FF2B5EF4-FFF2-40B4-BE49-F238E27FC236}">
                    <a16:creationId xmlns:a16="http://schemas.microsoft.com/office/drawing/2014/main" id="{8C7CB0DC-7079-4F28-81F7-057DE28ED8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797A64-D07E-680F-BC29-E56FBA108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/>
              <a:t>Grade calculator iteration 2</a:t>
            </a:r>
          </a:p>
        </p:txBody>
      </p:sp>
      <p:sp>
        <p:nvSpPr>
          <p:cNvPr id="57" name="Round Diagonal Corner Rectangle 11">
            <a:extLst>
              <a:ext uri="{FF2B5EF4-FFF2-40B4-BE49-F238E27FC236}">
                <a16:creationId xmlns:a16="http://schemas.microsoft.com/office/drawing/2014/main" id="{3980D26E-23EC-408B-A278-581293030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00F08B-869F-C85E-31A8-94AC6A8AC9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57" t="15417" r="5723"/>
          <a:stretch>
            <a:fillRect/>
          </a:stretch>
        </p:blipFill>
        <p:spPr>
          <a:xfrm>
            <a:off x="1371887" y="808056"/>
            <a:ext cx="4603314" cy="260111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E70D24-397E-0D62-98BF-7FF0BD1165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133" t="14591" r="7072"/>
          <a:stretch>
            <a:fillRect/>
          </a:stretch>
        </p:blipFill>
        <p:spPr>
          <a:xfrm>
            <a:off x="1378386" y="3426048"/>
            <a:ext cx="4584264" cy="261640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DEA18-45C4-74B8-75FD-A282A815A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36041" y="2249487"/>
            <a:ext cx="3281004" cy="3541714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Utilizes scanner to read data from a file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Course class stores data for itself and an array of students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Student class stores data for instances of Students within the Course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Performs same functions as Iteration 1, but more streamlined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i.e. reading data from a file instead of a keyboard</a:t>
            </a:r>
          </a:p>
        </p:txBody>
      </p:sp>
    </p:spTree>
    <p:extLst>
      <p:ext uri="{BB962C8B-B14F-4D97-AF65-F5344CB8AC3E}">
        <p14:creationId xmlns:p14="http://schemas.microsoft.com/office/powerpoint/2010/main" val="586993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F072F8-D2F8-965B-F996-38E5E44F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Multi-Way / Nested if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52F9F-7E14-005B-7081-A973620F4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Used when one outcome needs to be chosen from many possible conditions (letter grades A/B/C/D/F)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Conditions are checked in the order they appear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If any conditions are met, the if/else statement is terminated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Else statement provides a default condition in case none above are met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82F261-7E9C-D9AC-6CE5-2F1626959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52360"/>
            <a:ext cx="5456279" cy="332833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8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1722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FD3BFD04-77D1-4FB5-A159-35084E2C6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0B85FB2-B686-4546-B01D-17A122BAC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5CCB97F-DB3B-4939-ABF0-CEDED7249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9DEDF1F5-B144-4E61-A93B-DF131E62CE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AB937A00-7D28-489C-BF2D-85C9FE1330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9B6FDA50-4B9D-47D9-8807-59651FD0D3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BFBE3212-C518-48C0-A538-22E13450EE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DB66EBCA-80AB-4133-A201-9F8134577F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BE2107C9-8602-4900-B4B4-D13611B68B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4B5E7BF-E3D5-41ED-908A-569FA6DE45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270C773-B463-4311-BB4C-DC4C44FDAA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6BC18564-A239-4C4B-B7D5-4A3769CE3D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3D9A7A0F-04F5-4EF6-B884-50AE0610F1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7E0D4876-341D-4983-815A-4AEDD46F6F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5BEF60E7-344C-49D0-8748-3A3A37BD3F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FB606D79-EB93-49B4-9387-4302CC9F3E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BF49C646-5DA1-4717-B05F-99AB8E046E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ADE02A67-7AE8-4FC3-B101-230871F1DF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72BAD5DE-952F-4D28-96DE-61ECA1FFE2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51BB8E4C-85FF-4480-A425-F9C672FCD7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3E649AA8-8534-4C24-BA83-9C0F4D9C09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3A3C2D0A-7FF6-4F97-99B9-973E5E8381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1D33A404-96DB-40D1-A361-5C09D2FF75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B67A8029-EDD8-46B3-A24F-3484B84ADA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2C111128-EAC0-4125-BEAF-48D4861BE2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90EF503E-0E60-484F-8786-498B524487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BAEB64C1-8AA2-4861-8AFD-01864EF238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7B868A5A-03B3-474C-AB72-31AB04835E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C09ACD48-1E0F-4BCB-9028-0B79C43DE5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B5D4FF3D-341E-4DFE-B4CD-9916246F59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E7B0719-8F32-457D-83EB-E0A00622B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E056FF60-EFE3-4685-95A1-AEDB7F5626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5E9EA8FB-5CA0-4030-853C-54B4993049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387B387A-44A6-42A0-BACA-71AC19FCA0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4424F11E-20C0-4CFE-BE79-CDE4469FED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7BEDF974-EB25-4769-BDD6-F16430FF2C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7AD36026-D842-4FF4-905B-CEA8481F55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5EBAAB58-B39B-410E-97BA-4D33B0A9C0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57F900A9-A201-4C4D-9229-14F784AECE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EFF4B280-5D63-4917-8757-8088E70BA2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9CD67EA3-2BB1-4AE4-AFF9-BE18B6161B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FBC2CE0-523A-238C-488D-02B9A4379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937" y="26786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While Loop / For loop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2C9413-4727-8E57-ED17-7D30F0B11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434" y="1092914"/>
            <a:ext cx="5748059" cy="1408274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1CFE80-72C4-0B7F-5CBD-19236B5FD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905" y="2878850"/>
            <a:ext cx="5985427" cy="1361685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7EF4A-2CE2-4172-8E74-C27393963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0978" y="1382714"/>
            <a:ext cx="5110959" cy="147857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/>
              <a:t>While Loop: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Used when you don’t know how many iterations you’ll need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Condition is checked before loop iterates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Loop breaks once </a:t>
            </a:r>
            <a:r>
              <a:rPr lang="en-US" dirty="0" err="1"/>
              <a:t>boolean</a:t>
            </a:r>
            <a:r>
              <a:rPr lang="en-US" dirty="0"/>
              <a:t> flag becomes false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C366C2C-68DB-4929-C180-58FBBE125679}"/>
              </a:ext>
            </a:extLst>
          </p:cNvPr>
          <p:cNvSpPr txBox="1">
            <a:spLocks/>
          </p:cNvSpPr>
          <p:nvPr/>
        </p:nvSpPr>
        <p:spPr>
          <a:xfrm>
            <a:off x="908275" y="2868125"/>
            <a:ext cx="5110959" cy="147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/>
              <a:t>For Loop: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Used when you know how many iterations you want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Checks condition before each iteration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Breaks loop once </a:t>
            </a:r>
            <a:r>
              <a:rPr lang="en-US" dirty="0" err="1"/>
              <a:t>boolean</a:t>
            </a:r>
            <a:r>
              <a:rPr lang="en-US" dirty="0"/>
              <a:t> flag becomes false</a:t>
            </a:r>
          </a:p>
        </p:txBody>
      </p:sp>
    </p:spTree>
    <p:extLst>
      <p:ext uri="{BB962C8B-B14F-4D97-AF65-F5344CB8AC3E}">
        <p14:creationId xmlns:p14="http://schemas.microsoft.com/office/powerpoint/2010/main" val="1509679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C1602-87D1-735A-5A50-5BBCD4D6E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software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4C7CE-2B38-9358-317B-944C33AFE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23922" y="2674463"/>
            <a:ext cx="3196899" cy="685800"/>
          </a:xfrm>
        </p:spPr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FBD1A7-922E-3D39-C04B-174D372B354A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4968081" cy="243093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Break problems into smaller, manageable tasks known as User Stories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Write a step-by-step algorithm / pseudocode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edge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test cases (normal, boundary, invalid) to verify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Refine as needed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FDDA72-F505-2BE4-595D-9634E3F3F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92003" y="2674463"/>
            <a:ext cx="3184385" cy="685800"/>
          </a:xfrm>
        </p:spPr>
        <p:txBody>
          <a:bodyPr/>
          <a:lstStyle/>
          <a:p>
            <a:r>
              <a:rPr lang="en-US" dirty="0"/>
              <a:t>Coding mindset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E07EB-4E4D-2019-8124-5C9BBFB9A38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096000" y="3363435"/>
            <a:ext cx="4968081" cy="2430936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Write clean, maintainable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Follow Single-Responsibility-Principle(SRP), design each class/method to do one job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Don’t Repeat Yourself(DRY): Avoid re-writing code by using methods and classes for repeated usage of the same lines of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descriptive naming for variables, methods, and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meaningful comments for future maintenance of code</a:t>
            </a:r>
          </a:p>
        </p:txBody>
      </p:sp>
    </p:spTree>
    <p:extLst>
      <p:ext uri="{BB962C8B-B14F-4D97-AF65-F5344CB8AC3E}">
        <p14:creationId xmlns:p14="http://schemas.microsoft.com/office/powerpoint/2010/main" val="2820323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B2797-ACB7-0DCD-C00C-FE0AC20A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vs non-Primitive Data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68160-D461-73BE-ED8C-4B5530D01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Primitive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C0E26-6C88-9BC7-361D-13490F85F5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Holds the actual value ( int, double, char, </a:t>
            </a:r>
            <a:r>
              <a:rPr lang="en-US" dirty="0" err="1"/>
              <a:t>boolean</a:t>
            </a:r>
            <a:r>
              <a:rPr lang="en-US" dirty="0"/>
              <a:t>)</a:t>
            </a:r>
          </a:p>
          <a:p>
            <a:r>
              <a:rPr lang="en-US" dirty="0"/>
              <a:t>Stored on the stack</a:t>
            </a:r>
          </a:p>
          <a:p>
            <a:r>
              <a:rPr lang="en-US" dirty="0"/>
              <a:t>Defaults are simple values ( 0, false, 0.0)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FA40B-F224-6CFF-A8A3-BD61BF9914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Non-Primitive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9DDAA-8257-CA53-A19F-0316A045720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Holds a reference value(address) to an object stored on the Heap in memory</a:t>
            </a:r>
          </a:p>
          <a:p>
            <a:r>
              <a:rPr lang="en-US" dirty="0"/>
              <a:t>Examples: String, Scanner, Object</a:t>
            </a:r>
          </a:p>
          <a:p>
            <a:r>
              <a:rPr lang="en-US" dirty="0"/>
              <a:t>Default value is null</a:t>
            </a:r>
          </a:p>
          <a:p>
            <a:r>
              <a:rPr lang="en-US" dirty="0"/>
              <a:t>Used for complex data or modeling real-world things</a:t>
            </a:r>
          </a:p>
        </p:txBody>
      </p:sp>
    </p:spTree>
    <p:extLst>
      <p:ext uri="{BB962C8B-B14F-4D97-AF65-F5344CB8AC3E}">
        <p14:creationId xmlns:p14="http://schemas.microsoft.com/office/powerpoint/2010/main" val="1071977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D3F4D-C617-78E4-BF8A-0B1857899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3F025-3742-C9CD-B1B8-EAD8D024F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and memory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9E27F-70DA-962C-8F39-5388FF153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846EF-8114-C0F5-8482-14C7509274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Reusable blocks of code that perform a particular task</a:t>
            </a:r>
          </a:p>
          <a:p>
            <a:r>
              <a:rPr lang="en-US" dirty="0"/>
              <a:t>Improves readability by breaker problems down into smaller tasks</a:t>
            </a:r>
          </a:p>
          <a:p>
            <a:r>
              <a:rPr lang="en-US" dirty="0"/>
              <a:t>Reduces repetition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52B448-48BD-51BD-A8BF-388380632C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2249485"/>
            <a:ext cx="4951410" cy="823912"/>
          </a:xfrm>
        </p:spPr>
        <p:txBody>
          <a:bodyPr/>
          <a:lstStyle/>
          <a:p>
            <a:r>
              <a:rPr lang="en-US" dirty="0"/>
              <a:t>Memory stacks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82D13-FB47-F0BE-77BB-0115C2DD08F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Each method creates a stack frame</a:t>
            </a:r>
          </a:p>
          <a:p>
            <a:r>
              <a:rPr lang="en-US" dirty="0"/>
              <a:t>Stack frames store parameters and local variables</a:t>
            </a:r>
          </a:p>
          <a:p>
            <a:r>
              <a:rPr lang="en-US" dirty="0"/>
              <a:t>Frames are Last in, first out</a:t>
            </a:r>
          </a:p>
          <a:p>
            <a:r>
              <a:rPr lang="en-US" dirty="0"/>
              <a:t>Last method that was called will be popped off the stack and the one beneath it will be continued</a:t>
            </a:r>
          </a:p>
          <a:p>
            <a:r>
              <a:rPr lang="en-US" dirty="0"/>
              <a:t>Reference and primitive variables live here, objects live in the heap</a:t>
            </a:r>
          </a:p>
        </p:txBody>
      </p:sp>
    </p:spTree>
    <p:extLst>
      <p:ext uri="{BB962C8B-B14F-4D97-AF65-F5344CB8AC3E}">
        <p14:creationId xmlns:p14="http://schemas.microsoft.com/office/powerpoint/2010/main" val="2647099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18FDA-4BAE-47B0-5918-334B8EC96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value vs. pass by 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6BC98-F7E8-CA34-DA98-99FBE03E9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 by value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2EB3D-5BC4-1972-C59B-E813DE677B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copy of the value is passed into method</a:t>
            </a:r>
          </a:p>
          <a:p>
            <a:r>
              <a:rPr lang="en-US" dirty="0"/>
              <a:t>Changes to the parameter do not change the original variable</a:t>
            </a:r>
          </a:p>
          <a:p>
            <a:r>
              <a:rPr lang="en-US" dirty="0"/>
              <a:t>Primitives are Pass By Value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8D9C20-665F-139B-906A-378BC4A6C6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Pass by reference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617731-4CD1-9478-B185-AE90EEA757E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reference to the Object on the heap is passed to the method</a:t>
            </a:r>
          </a:p>
          <a:p>
            <a:r>
              <a:rPr lang="en-US" dirty="0"/>
              <a:t>Changes inside the method can alter the object on the heap</a:t>
            </a:r>
          </a:p>
          <a:p>
            <a:r>
              <a:rPr lang="en-US" dirty="0"/>
              <a:t>Reference stays the same, but the object’s values can be changed</a:t>
            </a:r>
          </a:p>
        </p:txBody>
      </p:sp>
    </p:spTree>
    <p:extLst>
      <p:ext uri="{BB962C8B-B14F-4D97-AF65-F5344CB8AC3E}">
        <p14:creationId xmlns:p14="http://schemas.microsoft.com/office/powerpoint/2010/main" val="4161499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CDF20-AF94-206D-365F-7F53BE1B9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 variables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515EC-D4E5-64F1-68BC-95680F513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Fields that belong to an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Course/Student has it’s own copy of each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to store an object’s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primitive or non-primitive data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Persist in memory as long as the Object remains in memory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F6605-1F2A-9E28-45DA-A3E0113BD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324" y="3625122"/>
            <a:ext cx="3606800" cy="2708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F02E6C-69F3-6D34-BC17-F4B1E19DC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324" y="1373186"/>
            <a:ext cx="36068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378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27A5FB-A4AB-2216-3EC7-CACBB1BBE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ED8C92-306A-DAB6-8266-4457301FB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2877336" cy="550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Instance methods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CEE61-4D55-8F22-4F1A-F66392547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06627" y="2065112"/>
            <a:ext cx="7034485" cy="218523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Use an object’s instance variables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Called on an object ( </a:t>
            </a:r>
            <a:r>
              <a:rPr lang="en-US" dirty="0" err="1"/>
              <a:t>Course.displayFinalCourseSummary</a:t>
            </a:r>
            <a:r>
              <a:rPr lang="en-US" dirty="0"/>
              <a:t>() )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i="1" dirty="0"/>
              <a:t>this.</a:t>
            </a:r>
            <a:r>
              <a:rPr lang="en-US" dirty="0"/>
              <a:t> To access current object’s fields ( </a:t>
            </a:r>
            <a:r>
              <a:rPr lang="en-US" dirty="0" err="1"/>
              <a:t>this.classAverage</a:t>
            </a:r>
            <a:r>
              <a:rPr lang="en-US" dirty="0"/>
              <a:t> , </a:t>
            </a:r>
            <a:r>
              <a:rPr lang="en-US" dirty="0" err="1"/>
              <a:t>this.highestGrade</a:t>
            </a:r>
            <a:r>
              <a:rPr lang="en-US" dirty="0"/>
              <a:t> 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Can call other methods, chaining methods to accomplish other tasks and maintain SRP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B6A0AC-0D24-0501-3863-6047B8428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98" y="4896320"/>
            <a:ext cx="11050515" cy="1215555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5097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7DA484C-154A-1EAF-DE78-DFAC3F8C3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2877336" cy="550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/>
              <a:t>Constructors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85C4E-4FCF-4E94-8E07-260C29592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97127" y="1748309"/>
            <a:ext cx="7034485" cy="2669326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Initializes an object when new is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Constructor name matches class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return type ( not void 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no constructor is written in the code, a default, no argument constructor is provided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class can have multiple constructors overloaded with different parameters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E0E3A-E6D2-E338-29C7-0F071A355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252" y="4627311"/>
            <a:ext cx="6786975" cy="1476165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1873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3F8D-A062-C47B-D48B-3D3424059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C25262-2B8E-DD04-D52D-EBE0DC166CDB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1141412" y="2689412"/>
            <a:ext cx="9905997" cy="396688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Controls access to data using access modifiers, usually private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Protects objects from outside manipulation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Uses methods called getters and setters to access and alter the data</a:t>
            </a:r>
          </a:p>
          <a:p>
            <a:endParaRPr lang="en-US" sz="1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74AFCA0-D5A5-065C-4A31-4497F7EE6D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059"/>
          <a:stretch>
            <a:fillRect/>
          </a:stretch>
        </p:blipFill>
        <p:spPr>
          <a:xfrm>
            <a:off x="2584824" y="6270810"/>
            <a:ext cx="6997700" cy="23756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1E5D4E8-600A-C71A-0B59-E0C72F325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824" y="4214160"/>
            <a:ext cx="2717800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D7A6098-87EA-FF9A-6D4C-4712BCE44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824" y="4617572"/>
            <a:ext cx="3983224" cy="145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98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118FE-1ED2-848A-6811-712403E7E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E2C1F-118D-5BC0-7308-378538C2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Getters &amp; </a:t>
            </a:r>
            <a:r>
              <a:rPr lang="en-US" dirty="0" err="1"/>
              <a:t>SEtters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53B5C8-3067-2DC5-C266-C2E1716E7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894010" y="4404595"/>
            <a:ext cx="3200400" cy="576262"/>
          </a:xfrm>
        </p:spPr>
        <p:txBody>
          <a:bodyPr/>
          <a:lstStyle/>
          <a:p>
            <a:r>
              <a:rPr lang="en-US" dirty="0"/>
              <a:t>getters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9807B4-E96C-8CD5-D771-0DAC8A028EF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1529240" y="4999746"/>
            <a:ext cx="4565928" cy="1248654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read access to private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when other classes need to read data but not direct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Returns the value stored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85E661B-B8A5-0A88-F3A6-FCD13BDEB2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02619" y="4398552"/>
            <a:ext cx="3190741" cy="576262"/>
          </a:xfrm>
        </p:spPr>
        <p:txBody>
          <a:bodyPr/>
          <a:lstStyle/>
          <a:p>
            <a:r>
              <a:rPr lang="en-US" dirty="0"/>
              <a:t>setters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7D6BA1D-7B7C-B93B-733C-B780832CDA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6481482" y="4980854"/>
            <a:ext cx="4565928" cy="1248654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Takes a parameter and assigns that value to the instance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controlled write access to private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Useful for data validation before assignment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FB16D5-9EE2-DFDB-A2FD-9FA9582AB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10" y="1810609"/>
            <a:ext cx="7772400" cy="10823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D26F07-AD6E-D5A3-81F8-34C23D5EF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046" y="3256454"/>
            <a:ext cx="4622800" cy="876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F31BD5B-2283-3323-1078-950F4D215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255" y="3370754"/>
            <a:ext cx="39497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98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021E14-B0FD-DD7A-3B24-E6E6E4FB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Object Reference variables &amp; memory storage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876D4-7E1D-5DFE-DD42-BB8958958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411" y="2658573"/>
            <a:ext cx="4689234" cy="273147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343D1-E5B4-EC95-3617-6FE10F479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36727" y="2249487"/>
            <a:ext cx="4710683" cy="354171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Reference variable points to an object on the heap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Stack stores local variables, parameters, and reference variables inside call frames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Heap stores objects created with new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Assigning a reference variable copies the address (student1 = student2 makes it so student1 now contains a reference to the same object as student2)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Changing the object itself is visible through any variables that reference the object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Once no reference variables point to an object, it becomes eligible for garbage collection</a:t>
            </a:r>
          </a:p>
        </p:txBody>
      </p:sp>
    </p:spTree>
    <p:extLst>
      <p:ext uri="{BB962C8B-B14F-4D97-AF65-F5344CB8AC3E}">
        <p14:creationId xmlns:p14="http://schemas.microsoft.com/office/powerpoint/2010/main" val="982245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2D65-212E-E483-D07D-E58F2F38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599"/>
            <a:ext cx="9905998" cy="2058519"/>
          </a:xfrm>
        </p:spPr>
        <p:txBody>
          <a:bodyPr>
            <a:normAutofit/>
          </a:bodyPr>
          <a:lstStyle/>
          <a:p>
            <a:r>
              <a:rPr lang="en-US" dirty="0"/>
              <a:t>Version control using </a:t>
            </a:r>
            <a:r>
              <a:rPr lang="en-US" dirty="0" err="1"/>
              <a:t>github</a:t>
            </a:r>
            <a:br>
              <a:rPr lang="en-US" dirty="0"/>
            </a:br>
            <a:r>
              <a:rPr lang="en-US" dirty="0"/>
              <a:t>final project repo: </a:t>
            </a:r>
            <a:br>
              <a:rPr lang="en-US" dirty="0"/>
            </a:br>
            <a:r>
              <a:rPr lang="en-US" sz="2200" dirty="0"/>
              <a:t>https://</a:t>
            </a:r>
            <a:r>
              <a:rPr lang="en-US" sz="2200" dirty="0" err="1"/>
              <a:t>github.com</a:t>
            </a:r>
            <a:r>
              <a:rPr lang="en-US" sz="2200" dirty="0"/>
              <a:t>/milesporter91/CS-1050--Computer-Science-1/tree/main/CS1050Workspace/CS1050MidtermProject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D8257-9C21-D664-1CDC-15A01C28A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13508" y="2671291"/>
            <a:ext cx="3196899" cy="685800"/>
          </a:xfrm>
        </p:spPr>
        <p:txBody>
          <a:bodyPr/>
          <a:lstStyle/>
          <a:p>
            <a:r>
              <a:rPr lang="en-US" dirty="0"/>
              <a:t>What is it?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B6A29-10BE-3138-4DAD-D0F89442264E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4968081" cy="243093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system for tracking changes to files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Saves versions that you can review or revert to later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Shows what was changed, and when and why via commit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collaboration through branching to work on individual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Must take care to avoid merge conflicts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EC65F-42E2-B293-A79D-8D32CC2DE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78130" y="2674463"/>
            <a:ext cx="3184385" cy="685800"/>
          </a:xfrm>
        </p:spPr>
        <p:txBody>
          <a:bodyPr/>
          <a:lstStyle/>
          <a:p>
            <a:r>
              <a:rPr lang="en-US" dirty="0"/>
              <a:t>How you use it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327F55-ED79-FA87-373F-32E43F874A4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095999" y="3363435"/>
            <a:ext cx="5148649" cy="243093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individual projects, I have used GitHub to revert to working versions of a program after something broke.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group projects, I have used GitHub for branching to work on individual tasks, troubleshoot broken code by reviewing changes, and shared code via repo cloning and merging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Commit often, after completing a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889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686A7-FAB5-8ED2-5097-51399EDD6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u="sng" dirty="0"/>
              <a:t>Final thoughts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CD83D-4273-5F2F-B634-A564B0BE1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4742" y="2604246"/>
            <a:ext cx="10803822" cy="34290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hardest part of this project for me was the reflection and describing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am much more proficient at writing and implementing the code than I am at the technical documentation, so I got some good practice in with that during this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am most proud of the readability and maintainability of the code. I know this isn’t a specific piece of code, but it is something that is very important in industry work and always good to practice in our coding</a:t>
            </a:r>
          </a:p>
        </p:txBody>
      </p:sp>
    </p:spTree>
    <p:extLst>
      <p:ext uri="{BB962C8B-B14F-4D97-AF65-F5344CB8AC3E}">
        <p14:creationId xmlns:p14="http://schemas.microsoft.com/office/powerpoint/2010/main" val="30177723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461</TotalTime>
  <Words>1084</Words>
  <Application>Microsoft Macintosh PowerPoint</Application>
  <PresentationFormat>Widescreen</PresentationFormat>
  <Paragraphs>123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Tw Cen MT</vt:lpstr>
      <vt:lpstr>Circuit</vt:lpstr>
      <vt:lpstr>Miles Porter</vt:lpstr>
      <vt:lpstr>Grade calculator iteration 1</vt:lpstr>
      <vt:lpstr>Grade calculator iteration 2</vt:lpstr>
      <vt:lpstr>Multi-Way / Nested if</vt:lpstr>
      <vt:lpstr>While Loop / For loop</vt:lpstr>
      <vt:lpstr>Agile software development</vt:lpstr>
      <vt:lpstr>Primitive vs non-Primitive Data types</vt:lpstr>
      <vt:lpstr>Methods and memory</vt:lpstr>
      <vt:lpstr>Pass by value vs. pass by reference</vt:lpstr>
      <vt:lpstr>Instance variables</vt:lpstr>
      <vt:lpstr>Instance methods</vt:lpstr>
      <vt:lpstr>Constructors</vt:lpstr>
      <vt:lpstr>Encapsulation</vt:lpstr>
      <vt:lpstr>Getters &amp; SEtters</vt:lpstr>
      <vt:lpstr>Object Reference variables &amp; memory storage</vt:lpstr>
      <vt:lpstr>Version control using github final project repo:  https://github.com/milesporter91/CS-1050--Computer-Science-1/tree/main/CS1050Workspace/CS1050MidtermProject</vt:lpstr>
      <vt:lpstr>Final 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Miles Porter</dc:creator>
  <cp:lastModifiedBy>Miles Porter</cp:lastModifiedBy>
  <cp:revision>13</cp:revision>
  <dcterms:created xsi:type="dcterms:W3CDTF">2025-12-08T18:38:03Z</dcterms:created>
  <dcterms:modified xsi:type="dcterms:W3CDTF">2025-12-09T02:19:25Z</dcterms:modified>
</cp:coreProperties>
</file>